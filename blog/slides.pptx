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3" r:id="rId4"/>
    <p:sldId id="258" r:id="rId5"/>
    <p:sldId id="264" r:id="rId6"/>
    <p:sldId id="259" r:id="rId7"/>
    <p:sldId id="265" r:id="rId8"/>
    <p:sldId id="260" r:id="rId9"/>
    <p:sldId id="261" r:id="rId10"/>
    <p:sldId id="266" r:id="rId11"/>
    <p:sldId id="262" r:id="rId12"/>
    <p:sldId id="268" r:id="rId13"/>
    <p:sldId id="269" r:id="rId14"/>
    <p:sldId id="267" r:id="rId15"/>
    <p:sldId id="271" r:id="rId16"/>
    <p:sldId id="270" r:id="rId17"/>
    <p:sldId id="272" r:id="rId18"/>
    <p:sldId id="274" r:id="rId19"/>
    <p:sldId id="273" r:id="rId20"/>
    <p:sldId id="275" r:id="rId21"/>
    <p:sldId id="276" r:id="rId22"/>
    <p:sldId id="278" r:id="rId23"/>
    <p:sldId id="279" r:id="rId24"/>
    <p:sldId id="280" r:id="rId25"/>
    <p:sldId id="282" r:id="rId26"/>
    <p:sldId id="283" r:id="rId27"/>
    <p:sldId id="281" r:id="rId2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05"/>
    <p:restoredTop sz="94635"/>
  </p:normalViewPr>
  <p:slideViewPr>
    <p:cSldViewPr snapToGrid="0">
      <p:cViewPr varScale="1">
        <p:scale>
          <a:sx n="120" d="100"/>
          <a:sy n="120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7085F-F994-2F45-8F79-D5192E2C3D37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45A8C-B65A-1740-9ED9-CDB26AB9B1F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6848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A45A8C-B65A-1740-9ED9-CDB26AB9B1F7}" type="slidenum">
              <a:rPr lang="en-CH" smtClean="0"/>
              <a:t>14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75688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3FD5-774E-C0C1-53ED-2925FA48B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007E2-6B51-996A-2219-714966E2D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5389E-D7FF-810A-C4BA-4BA1988E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6DBB6-0B38-34F8-7136-87144DC7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78304-C001-10B8-8F96-61FCCCC8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3614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CB77-7F85-672C-D9CE-D09528A9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D384E-7CA2-01DF-A09C-3377922DB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6D71-71D4-DA07-487E-03D2C1092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3128C-3067-C874-A7F0-16526025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FEAB8-5AF1-B636-6A42-9691952A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09603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C96F6-ED02-BE19-9CC1-E4BFA009F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A532F-F0D0-F3EE-A6B0-BD329BFC6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79DE4-DD4A-E54D-00EB-DBBB5B91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EE914-293B-5BCF-D108-3C4EBF9B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28024-8DB1-AFA0-D902-F7889D2F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2244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56EF-9FD1-91B8-8CC0-A15EFCEA3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CAC82-B23F-6C8E-8331-5A0916334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EEE68-4146-E966-1B0B-4166EB2DE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A4DD8-94C4-4CDD-0733-579A11E6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ABCD9-F23A-3171-DFA1-97C54C1C6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294BA-98D1-3E19-8BA6-801DC88B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9458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E339F-BB61-D47A-9458-D916D786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44045-CAEE-3089-8AC2-82E8A9B6A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3E2A1-7C6F-5CE3-68F4-80E6FCFBF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AE458-3FA7-63A5-FC76-0EC37EB54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05E84-8DEF-61D0-CF01-F550232A9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651A57-5457-CB70-C8CB-466C0D63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37B42F-A0CC-D750-D32A-F6FA6FFA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5793D-C430-D770-6735-B50E675E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52617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9CD83-95E7-092B-45BC-3E2F509E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471E2-DD51-671A-9EB4-4C6FA336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F4C8F-B791-5DD9-9551-F1441B7E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E5429-73D2-2F27-5A9F-FB2A8607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8964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BD10C-4ACA-3CE0-DC22-25DDE459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F7BEE-371C-D65E-45BD-215FD2DD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F73AC-EA80-FCD1-1873-31A36AF6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7489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B2FF-8E34-9269-A420-2458EE755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ACED1-DC48-856F-A64D-BB1630BEE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957E5-9032-7774-D519-F7C192810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32687-53A3-00D6-A901-252AA08F9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1572A-8380-B392-B614-D78F84CD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510FA-F1A2-C443-28CC-2E626B00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2680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F77B0-75E4-787B-B0DF-FBD26030C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00307-526A-6044-0F36-FEF070484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63BB5-D81B-2AFD-6DF9-6DD9CD22E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86E80-01A7-9D5E-88C2-3DF3D9D6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23437-0D8A-442B-11F9-47AB0CEF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EF220-A69F-DA78-BB47-29B53937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3888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ECF6-EDF4-B587-4037-8E00ABDE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5BAF2-2421-4473-0ED5-9A649A78B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0885C-FC63-C0BC-A34C-4C5A83B4D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413F9-03F4-C260-27DD-25EDDED76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9C8A0-4256-96DF-D407-A9D9BE56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717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B7242D-1D87-8016-2991-62C65A144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F0D86-1C88-C3E5-DE22-3611CA14A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2F25F-E14E-914E-A861-0734FC6D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BF625-D7BC-ECB2-4360-176053B17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F1CCD-EAF7-FBDF-30CA-DDF352B2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2842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424B4-C150-5117-9BA9-C73D3E78A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CEC18-F5D0-027C-EE0A-EA65024FB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02266-EA86-B681-99F2-D6B2DCB88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E13F6-00EF-2944-9BC7-5FBA21E40F12}" type="datetimeFigureOut">
              <a:rPr lang="en-CH" smtClean="0"/>
              <a:t>23.09.2026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12D9A-51D1-9356-DFA9-1244DEFBA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B0777-BD9E-5501-9970-A464979DF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536F7-1BFE-134A-8FB0-5BF0FA3144D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70155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riton-lang.org/main/getting-started/tutorials/03-matrix-multiplication.html#l2-cache-optimization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D1BFB9-009D-A41F-A1A6-FCDD227AD1B8}"/>
              </a:ext>
            </a:extLst>
          </p:cNvPr>
          <p:cNvSpPr txBox="1"/>
          <p:nvPr/>
        </p:nvSpPr>
        <p:spPr>
          <a:xfrm>
            <a:off x="1004305" y="2951946"/>
            <a:ext cx="101833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vllm</a:t>
            </a:r>
            <a:r>
              <a:rPr lang="en-GB" sz="1200" b="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serve Qwen/Qwen3.8-27B-FP8</a:t>
            </a:r>
          </a:p>
          <a:p>
            <a:r>
              <a:rPr lang="en-GB" sz="12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GB" sz="1200" b="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H" sz="1200" b="0" i="0" dirty="0">
                <a:solidFill>
                  <a:srgbClr val="FFC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WARNING</a:t>
            </a:r>
            <a:r>
              <a:rPr lang="en-CH" sz="12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[fp8_utils.py:851] Using default W8A8 Block FP8 kernel config. Performance might be sub-optimal!</a:t>
            </a:r>
          </a:p>
          <a:p>
            <a:pPr indent="0" algn="l">
              <a:buNone/>
            </a:pPr>
            <a:r>
              <a:rPr lang="en-CH" sz="12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Config file not found at .../configs/N=17408,K=5120,device_name=NVIDIA_L40S,dtype=fp8_w8a8,block_shape=[128,128].json</a:t>
            </a:r>
          </a:p>
          <a:p>
            <a:pPr indent="0" algn="l">
              <a:buNone/>
            </a:pP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CH" sz="700" b="0" i="0" dirty="0">
              <a:solidFill>
                <a:srgbClr val="1A1D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95FA5-8B6C-BF3C-EBDE-358F5D70880F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926F8-FA29-D4D2-78CA-2168CD938C96}"/>
              </a:ext>
            </a:extLst>
          </p:cNvPr>
          <p:cNvSpPr txBox="1"/>
          <p:nvPr/>
        </p:nvSpPr>
        <p:spPr>
          <a:xfrm>
            <a:off x="437322" y="755038"/>
            <a:ext cx="432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Warning during vLLM startup</a:t>
            </a:r>
          </a:p>
        </p:txBody>
      </p:sp>
    </p:spTree>
    <p:extLst>
      <p:ext uri="{BB962C8B-B14F-4D97-AF65-F5344CB8AC3E}">
        <p14:creationId xmlns:p14="http://schemas.microsoft.com/office/powerpoint/2010/main" val="424639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FCCE4-5FDF-36A6-9403-ADA3B53B37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55" b="20324"/>
          <a:stretch>
            <a:fillRect/>
          </a:stretch>
        </p:blipFill>
        <p:spPr>
          <a:xfrm>
            <a:off x="2248076" y="2451735"/>
            <a:ext cx="7143594" cy="195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F5DB2A-0761-2753-5052-803F3197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3" t="82688" r="89841" b="3630"/>
          <a:stretch>
            <a:fillRect/>
          </a:stretch>
        </p:blipFill>
        <p:spPr>
          <a:xfrm>
            <a:off x="5916828" y="1723221"/>
            <a:ext cx="698072" cy="335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96997E-05B0-2221-1533-012222E04DCB}"/>
              </a:ext>
            </a:extLst>
          </p:cNvPr>
          <p:cNvSpPr/>
          <p:nvPr/>
        </p:nvSpPr>
        <p:spPr>
          <a:xfrm>
            <a:off x="2481836" y="2750419"/>
            <a:ext cx="463474" cy="9431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262E0D-0C7F-8ADD-E246-41D5B1E84D11}"/>
              </a:ext>
            </a:extLst>
          </p:cNvPr>
          <p:cNvSpPr/>
          <p:nvPr/>
        </p:nvSpPr>
        <p:spPr>
          <a:xfrm>
            <a:off x="5156541" y="2553498"/>
            <a:ext cx="463474" cy="1299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F8DBF3-D26F-DB51-ECBA-A26B23877A6B}"/>
              </a:ext>
            </a:extLst>
          </p:cNvPr>
          <p:cNvSpPr/>
          <p:nvPr/>
        </p:nvSpPr>
        <p:spPr>
          <a:xfrm>
            <a:off x="7697682" y="2572333"/>
            <a:ext cx="463474" cy="12993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99A27D-8594-C1A9-1FF2-7E3A5DCADB16}"/>
              </a:ext>
            </a:extLst>
          </p:cNvPr>
          <p:cNvSpPr/>
          <p:nvPr/>
        </p:nvSpPr>
        <p:spPr>
          <a:xfrm>
            <a:off x="2945310" y="3594915"/>
            <a:ext cx="1467932" cy="555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754C7-4CEC-3E63-9287-3E8D270DE4F3}"/>
              </a:ext>
            </a:extLst>
          </p:cNvPr>
          <p:cNvSpPr/>
          <p:nvPr/>
        </p:nvSpPr>
        <p:spPr>
          <a:xfrm>
            <a:off x="5303944" y="3765362"/>
            <a:ext cx="1467932" cy="555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4D0569-E69C-F4E4-C1D3-91E9C71CC0F8}"/>
              </a:ext>
            </a:extLst>
          </p:cNvPr>
          <p:cNvSpPr/>
          <p:nvPr/>
        </p:nvSpPr>
        <p:spPr>
          <a:xfrm>
            <a:off x="7831246" y="3593654"/>
            <a:ext cx="1467932" cy="555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BF2DDB-DAA3-B13F-8741-0314A02CC6FE}"/>
              </a:ext>
            </a:extLst>
          </p:cNvPr>
          <p:cNvSpPr/>
          <p:nvPr/>
        </p:nvSpPr>
        <p:spPr>
          <a:xfrm>
            <a:off x="2888272" y="2451735"/>
            <a:ext cx="290798" cy="430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C168E2-F3E8-A9D1-9634-A56E738EC87D}"/>
              </a:ext>
            </a:extLst>
          </p:cNvPr>
          <p:cNvSpPr/>
          <p:nvPr/>
        </p:nvSpPr>
        <p:spPr>
          <a:xfrm>
            <a:off x="5529075" y="2287379"/>
            <a:ext cx="290798" cy="430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31EE67-949E-5965-C782-68280A3DA53A}"/>
              </a:ext>
            </a:extLst>
          </p:cNvPr>
          <p:cNvSpPr/>
          <p:nvPr/>
        </p:nvSpPr>
        <p:spPr>
          <a:xfrm>
            <a:off x="8087790" y="2451735"/>
            <a:ext cx="290798" cy="430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159E87-6276-F887-5A78-9015251BF031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Introduction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F30968-7077-5E96-03F2-F508A1233614}"/>
              </a:ext>
            </a:extLst>
          </p:cNvPr>
          <p:cNvSpPr txBox="1"/>
          <p:nvPr/>
        </p:nvSpPr>
        <p:spPr>
          <a:xfrm>
            <a:off x="437322" y="755038"/>
            <a:ext cx="432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702025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2330E-57BF-B375-548D-528BC231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99290D-7B91-A3CD-5FA0-51675F0D4B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55" b="20324"/>
          <a:stretch>
            <a:fillRect/>
          </a:stretch>
        </p:blipFill>
        <p:spPr>
          <a:xfrm>
            <a:off x="2248076" y="2451735"/>
            <a:ext cx="7143594" cy="1954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348A62-D92E-0BB1-8D98-77287F094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32" t="80052" r="28627"/>
          <a:stretch>
            <a:fillRect/>
          </a:stretch>
        </p:blipFill>
        <p:spPr>
          <a:xfrm>
            <a:off x="2621158" y="4740522"/>
            <a:ext cx="6949683" cy="648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F64A13-4987-269F-387C-D94EA5B255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3" t="82688" r="89841" b="3630"/>
          <a:stretch>
            <a:fillRect/>
          </a:stretch>
        </p:blipFill>
        <p:spPr>
          <a:xfrm>
            <a:off x="5916828" y="1723221"/>
            <a:ext cx="698072" cy="3356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BFDA77B-13E0-7E0D-CB72-F91529D1423C}"/>
              </a:ext>
            </a:extLst>
          </p:cNvPr>
          <p:cNvSpPr/>
          <p:nvPr/>
        </p:nvSpPr>
        <p:spPr>
          <a:xfrm>
            <a:off x="2945310" y="3594915"/>
            <a:ext cx="1467932" cy="555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D96B69-28F8-3DD2-A9D8-D158131F7A48}"/>
              </a:ext>
            </a:extLst>
          </p:cNvPr>
          <p:cNvSpPr/>
          <p:nvPr/>
        </p:nvSpPr>
        <p:spPr>
          <a:xfrm>
            <a:off x="5529075" y="2287379"/>
            <a:ext cx="290798" cy="430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260B90-0940-E616-5085-B08F52DC4E61}"/>
              </a:ext>
            </a:extLst>
          </p:cNvPr>
          <p:cNvSpPr/>
          <p:nvPr/>
        </p:nvSpPr>
        <p:spPr>
          <a:xfrm>
            <a:off x="8087790" y="2451735"/>
            <a:ext cx="290798" cy="430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A20407-B8D3-595E-E019-F933A4D2BB28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87491-F94E-1AA5-3AED-1145310F40D6}"/>
              </a:ext>
            </a:extLst>
          </p:cNvPr>
          <p:cNvSpPr txBox="1"/>
          <p:nvPr/>
        </p:nvSpPr>
        <p:spPr>
          <a:xfrm>
            <a:off x="437322" y="755038"/>
            <a:ext cx="432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Matrix multiplication shape</a:t>
            </a:r>
          </a:p>
        </p:txBody>
      </p:sp>
    </p:spTree>
    <p:extLst>
      <p:ext uri="{BB962C8B-B14F-4D97-AF65-F5344CB8AC3E}">
        <p14:creationId xmlns:p14="http://schemas.microsoft.com/office/powerpoint/2010/main" val="70074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17ED2-0F89-9610-5E4D-54E327F0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0253EC-9D52-F11E-508E-E80FF44B2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532" y="755037"/>
            <a:ext cx="7298868" cy="57189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FF598E-B619-ADF2-A7CA-E100A5680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66" y="4611757"/>
            <a:ext cx="2569837" cy="16482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846C2E-4403-A14F-CFAC-F9E3A238AF7B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22C136-3D20-6C37-0ACC-2DECBCE63D4E}"/>
              </a:ext>
            </a:extLst>
          </p:cNvPr>
          <p:cNvSpPr txBox="1"/>
          <p:nvPr/>
        </p:nvSpPr>
        <p:spPr>
          <a:xfrm>
            <a:off x="437322" y="755038"/>
            <a:ext cx="4323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Qwen3.8-27B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2065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188F8-60BC-F0BD-160A-32D198967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C2E156-D790-E183-DCEC-3612411C12EC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D8A65-3B4D-5B61-B1E5-196FC3112807}"/>
              </a:ext>
            </a:extLst>
          </p:cNvPr>
          <p:cNvSpPr txBox="1"/>
          <p:nvPr/>
        </p:nvSpPr>
        <p:spPr>
          <a:xfrm>
            <a:off x="437322" y="755038"/>
            <a:ext cx="557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Use NVIDIA Nsight Systems to check kernel launches</a:t>
            </a:r>
          </a:p>
        </p:txBody>
      </p:sp>
      <p:pic>
        <p:nvPicPr>
          <p:cNvPr id="6" name="Picture 5" descr="A Nsight Systems timeline zoomed into a handful of consecutive kernel launches during real serving, showing the _w8a8_triton_block_scaled_mm kernel (80.7% of this window) alongside ncclDevKernel_AllReduce_Sum_bf16_RING_LL, per_token_group_quant_8bit_kernel, flash_fwd_splitkv_combine_kernel, fused_recurrent_gated_delta_ru..., and triton_red_fused__to_copy_add__9...">
            <a:extLst>
              <a:ext uri="{FF2B5EF4-FFF2-40B4-BE49-F238E27FC236}">
                <a16:creationId xmlns:a16="http://schemas.microsoft.com/office/drawing/2014/main" id="{0D42839A-9C14-755F-D234-8F2387CE7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09" y="2683565"/>
            <a:ext cx="9897181" cy="170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1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1FF05-46B3-3F6A-6D08-6CBC6E60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4EB9B9-17A1-F76E-A309-F993C51211D2}"/>
              </a:ext>
            </a:extLst>
          </p:cNvPr>
          <p:cNvSpPr txBox="1"/>
          <p:nvPr/>
        </p:nvSpPr>
        <p:spPr>
          <a:xfrm>
            <a:off x="523383" y="1953399"/>
            <a:ext cx="81041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Using Triton in 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vllm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model_executor</a:t>
            </a: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/layers/quantization/utils/fp8_utils.py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CH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6CE7A5-37A3-AB27-9539-AA010DED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09072" y="-185988"/>
            <a:ext cx="3499726" cy="9330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25CE9A-759A-721F-E259-4B661A7A23AA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A9208-78E9-DC22-EA72-3220CB5125EE}"/>
              </a:ext>
            </a:extLst>
          </p:cNvPr>
          <p:cNvSpPr txBox="1"/>
          <p:nvPr/>
        </p:nvSpPr>
        <p:spPr>
          <a:xfrm>
            <a:off x="437322" y="755038"/>
            <a:ext cx="557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How is the matrix multiplication implemented?</a:t>
            </a:r>
          </a:p>
        </p:txBody>
      </p:sp>
    </p:spTree>
    <p:extLst>
      <p:ext uri="{BB962C8B-B14F-4D97-AF65-F5344CB8AC3E}">
        <p14:creationId xmlns:p14="http://schemas.microsoft.com/office/powerpoint/2010/main" val="57361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D070-3798-8A7F-1D9F-760681B1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403EE-9AC9-2903-4EA0-532A35E03F1A}"/>
              </a:ext>
            </a:extLst>
          </p:cNvPr>
          <p:cNvSpPr txBox="1"/>
          <p:nvPr/>
        </p:nvSpPr>
        <p:spPr>
          <a:xfrm>
            <a:off x="523384" y="1953399"/>
            <a:ext cx="34474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600" dirty="0">
                <a:cs typeface="Calibri" panose="020F0502020204030204" pitchFamily="34" charset="0"/>
              </a:rPr>
              <a:t>By default: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FE1D4A-D2D0-19AF-522C-CDC826F1F464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8D0B9-BCC3-10D7-E10A-AE3A287D19DF}"/>
              </a:ext>
            </a:extLst>
          </p:cNvPr>
          <p:cNvSpPr txBox="1"/>
          <p:nvPr/>
        </p:nvSpPr>
        <p:spPr>
          <a:xfrm>
            <a:off x="437322" y="755038"/>
            <a:ext cx="5575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The kernel params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48947-C9F6-7B4E-37A7-A0691267C7DB}"/>
              </a:ext>
            </a:extLst>
          </p:cNvPr>
          <p:cNvSpPr txBox="1"/>
          <p:nvPr/>
        </p:nvSpPr>
        <p:spPr>
          <a:xfrm>
            <a:off x="922868" y="2605038"/>
            <a:ext cx="33697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H" sz="1800" dirty="0">
                <a:latin typeface="Consolas" panose="020B0609020204030204" pitchFamily="49" charset="0"/>
                <a:cs typeface="Consolas" panose="020B0609020204030204" pitchFamily="49" charset="0"/>
              </a:rPr>
              <a:t>    "BLOCK_SIZE_M": 64,</a:t>
            </a:r>
          </a:p>
          <a:p>
            <a:r>
              <a:rPr lang="en-CH" sz="1800" dirty="0">
                <a:latin typeface="Consolas" panose="020B0609020204030204" pitchFamily="49" charset="0"/>
                <a:cs typeface="Consolas" panose="020B0609020204030204" pitchFamily="49" charset="0"/>
              </a:rPr>
              <a:t>    "BLOCK_SIZE_N": 128,</a:t>
            </a:r>
          </a:p>
          <a:p>
            <a:r>
              <a:rPr lang="en-CH" sz="1800" dirty="0">
                <a:latin typeface="Consolas" panose="020B0609020204030204" pitchFamily="49" charset="0"/>
                <a:cs typeface="Consolas" panose="020B0609020204030204" pitchFamily="49" charset="0"/>
              </a:rPr>
              <a:t>    "BLOCK_SIZE_K": 128,</a:t>
            </a:r>
          </a:p>
          <a:p>
            <a:r>
              <a:rPr lang="en-CH" sz="1800" dirty="0">
                <a:latin typeface="Consolas" panose="020B0609020204030204" pitchFamily="49" charset="0"/>
                <a:cs typeface="Consolas" panose="020B0609020204030204" pitchFamily="49" charset="0"/>
              </a:rPr>
              <a:t>    "GROUP_SIZE_M": 32,</a:t>
            </a:r>
          </a:p>
          <a:p>
            <a:r>
              <a:rPr lang="en-CH" sz="1800" dirty="0">
                <a:latin typeface="Consolas" panose="020B0609020204030204" pitchFamily="49" charset="0"/>
                <a:cs typeface="Consolas" panose="020B0609020204030204" pitchFamily="49" charset="0"/>
              </a:rPr>
              <a:t>    "num_warps": 4,</a:t>
            </a:r>
          </a:p>
          <a:p>
            <a:r>
              <a:rPr lang="en-CH" sz="1800" dirty="0">
                <a:latin typeface="Consolas" panose="020B0609020204030204" pitchFamily="49" charset="0"/>
                <a:cs typeface="Consolas" panose="020B0609020204030204" pitchFamily="49" charset="0"/>
              </a:rPr>
              <a:t>    "num_stages": 2</a:t>
            </a:r>
          </a:p>
          <a:p>
            <a:r>
              <a:rPr lang="en-CH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7F80E-903B-B4AB-2220-CEC73C380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46" t="14071" r="17222" b="4090"/>
          <a:stretch>
            <a:fillRect/>
          </a:stretch>
        </p:blipFill>
        <p:spPr>
          <a:xfrm>
            <a:off x="5983658" y="2491827"/>
            <a:ext cx="4720045" cy="2715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C691BA-4F0B-D710-4965-8BA42DC66AF3}"/>
              </a:ext>
            </a:extLst>
          </p:cNvPr>
          <p:cNvSpPr txBox="1"/>
          <p:nvPr/>
        </p:nvSpPr>
        <p:spPr>
          <a:xfrm>
            <a:off x="5983658" y="1953399"/>
            <a:ext cx="34474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600" dirty="0">
                <a:cs typeface="Calibri" panose="020F0502020204030204" pitchFamily="34" charset="0"/>
              </a:rPr>
              <a:t>What are blocks/tiles?</a:t>
            </a:r>
          </a:p>
        </p:txBody>
      </p:sp>
    </p:spTree>
    <p:extLst>
      <p:ext uri="{BB962C8B-B14F-4D97-AF65-F5344CB8AC3E}">
        <p14:creationId xmlns:p14="http://schemas.microsoft.com/office/powerpoint/2010/main" val="4099848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2D8C8-83B7-EA62-6724-2D399B28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F3FD7C-80A7-7245-24E9-AABFDC153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96" y="1619795"/>
            <a:ext cx="9214121" cy="2703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AD7679-B86F-BD9B-0CDA-3CC421BCC78D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6DD85-CE60-9B95-E5A9-B9CAD50CA91E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Tuned configs for certain GEMM shape + GPU model combinations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00972-59D3-83B6-3E35-27DF92C6D135}"/>
              </a:ext>
            </a:extLst>
          </p:cNvPr>
          <p:cNvSpPr txBox="1"/>
          <p:nvPr/>
        </p:nvSpPr>
        <p:spPr>
          <a:xfrm>
            <a:off x="589112" y="5238205"/>
            <a:ext cx="101572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vllm</a:t>
            </a:r>
            <a:r>
              <a:rPr lang="en-GB" sz="1200" b="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serve Qwen/Qwen3.8-27B-FP8</a:t>
            </a:r>
          </a:p>
          <a:p>
            <a:r>
              <a:rPr lang="en-GB" sz="12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GB" sz="1200" b="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H" sz="1200" b="0" i="0" dirty="0">
                <a:solidFill>
                  <a:srgbClr val="FFC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WARNING</a:t>
            </a:r>
            <a:r>
              <a:rPr lang="en-CH" sz="12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[fp8_utils.py:851] Using default W8A8 Block FP8 kernel config. Performance might be sub-optimal!</a:t>
            </a:r>
          </a:p>
          <a:p>
            <a:pPr indent="0" algn="l">
              <a:buNone/>
            </a:pPr>
            <a:r>
              <a:rPr lang="en-CH" sz="1200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Config file not found at .../configs/N=17408,K=5120,device_name=NVIDIA_L40S,dtype=fp8_w8a8,block_shape=[128,128].json</a:t>
            </a:r>
          </a:p>
          <a:p>
            <a:pPr indent="0" algn="l">
              <a:buNone/>
            </a:pPr>
            <a:r>
              <a:rPr lang="en-CH" sz="12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CH" sz="700" b="0" i="0" dirty="0">
              <a:solidFill>
                <a:srgbClr val="1A1D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FF079-0B54-6E2D-D353-289492693AE9}"/>
              </a:ext>
            </a:extLst>
          </p:cNvPr>
          <p:cNvSpPr txBox="1"/>
          <p:nvPr/>
        </p:nvSpPr>
        <p:spPr>
          <a:xfrm>
            <a:off x="523384" y="4818511"/>
            <a:ext cx="42374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600" dirty="0">
                <a:cs typeface="Calibri" panose="020F0502020204030204" pitchFamily="34" charset="0"/>
              </a:rPr>
              <a:t>But missing for our model’s shapes on L40S:</a:t>
            </a:r>
          </a:p>
        </p:txBody>
      </p:sp>
    </p:spTree>
    <p:extLst>
      <p:ext uri="{BB962C8B-B14F-4D97-AF65-F5344CB8AC3E}">
        <p14:creationId xmlns:p14="http://schemas.microsoft.com/office/powerpoint/2010/main" val="419575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1CC5-A266-6B12-3DF1-9BA6EA5D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ECC0FE-742F-0E68-F514-71CBC6D9397E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Autotuning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4F9EC-D2FE-5D19-DC30-B6B2F5DE7222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Let’s use vLLM’s autotuning script to get custom configs!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AD047C-54BF-BCBC-7CF9-82DA8E26F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8" y="1836620"/>
            <a:ext cx="5035731" cy="38855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978D59-DE0A-11B1-B095-2C8889CFC857}"/>
              </a:ext>
            </a:extLst>
          </p:cNvPr>
          <p:cNvSpPr txBox="1"/>
          <p:nvPr/>
        </p:nvSpPr>
        <p:spPr>
          <a:xfrm>
            <a:off x="8421189" y="1124370"/>
            <a:ext cx="348342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#N=17408,K=5120,device_name=NVIDIA_L40S,dtype=fp8_w8a8,block_shape=[128,128].json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"1": {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"BLOCK_SIZE_M": 16,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"BLOCK_SIZE_N": 64,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"BLOCK_SIZE_K": 128,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"GROUP_SIZE_M": 32,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"num_warps": 8,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"num_stages": 4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},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"2": {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"BLOCK_SIZE_M": 16,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"BLOCK_SIZE_N": 64,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"BLOCK_SIZE_K": 128,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"GROUP_SIZE_M": 64,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"num_warps": 8,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"num_stages": 3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},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"4": {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"BLOCK_SIZE_M": 16,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"BLOCK_SIZE_N": 64,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"BLOCK_SIZE_K": 128,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"GROUP_SIZE_M": 32,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"num_warps": 8,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    "num_stages": 5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},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r>
              <a:rPr lang="en-CH" sz="11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F47612-EA1C-4393-C9B1-C9192F59D79F}"/>
              </a:ext>
            </a:extLst>
          </p:cNvPr>
          <p:cNvCxnSpPr>
            <a:cxnSpLocks/>
          </p:cNvCxnSpPr>
          <p:nvPr/>
        </p:nvCxnSpPr>
        <p:spPr>
          <a:xfrm>
            <a:off x="6783978" y="3400697"/>
            <a:ext cx="77506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01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711C6-704D-A442-6208-4C7FA6BA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30143-F42C-10DA-051D-485FEF1AFD4B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Use autotuning 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7ADF9-F66B-DEC0-05D2-DCC8C29CBE72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How much does the performance improve?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75C503-8A58-7ECB-4917-E96893EB8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4" y="1618277"/>
            <a:ext cx="7772400" cy="409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50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0E15-8097-C4FD-6510-1D798E76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584312-2386-F3A4-55C5-BDCFB86B3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76" y="1592953"/>
            <a:ext cx="7772400" cy="40695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21C98C-2CC6-FBB8-3A27-5A2996FF5BC6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Use autotuning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B81BD-063A-2EAF-B0E8-90C7EC298F24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How much does the performance improve?</a:t>
            </a:r>
          </a:p>
        </p:txBody>
      </p:sp>
    </p:spTree>
    <p:extLst>
      <p:ext uri="{BB962C8B-B14F-4D97-AF65-F5344CB8AC3E}">
        <p14:creationId xmlns:p14="http://schemas.microsoft.com/office/powerpoint/2010/main" val="354193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B151-121D-FF22-E73E-2F8435A8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7079D0-6B46-B7CA-22B6-60606AC524DF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Use autotuning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D2030-B259-5154-FD08-B10B6AADDEE6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How much does the performance improve?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035D78-98F1-DA96-BB08-24735F6F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76" y="1582669"/>
            <a:ext cx="7772400" cy="409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07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B151-121D-FF22-E73E-2F8435A8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658A51-0325-6D51-3A9A-15A674B25C8D}"/>
              </a:ext>
            </a:extLst>
          </p:cNvPr>
          <p:cNvSpPr txBox="1"/>
          <p:nvPr/>
        </p:nvSpPr>
        <p:spPr>
          <a:xfrm>
            <a:off x="1334589" y="3013501"/>
            <a:ext cx="95228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spcBef>
                <a:spcPts val="2550"/>
              </a:spcBef>
              <a:spcAft>
                <a:spcPts val="2550"/>
              </a:spcAft>
              <a:buNone/>
            </a:pPr>
            <a:r>
              <a:rPr lang="en-CH" sz="2400" i="0" dirty="0">
                <a:solidFill>
                  <a:schemeClr val="tx1"/>
                </a:solidFill>
                <a:effectLst/>
                <a:latin typeface="+mn-lt"/>
              </a:rPr>
              <a:t>How can a kernel config that's faster across the whole batch-size range</a:t>
            </a:r>
            <a:br>
              <a:rPr lang="en-CH" sz="24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CH" sz="2400" i="0" dirty="0">
                <a:solidFill>
                  <a:schemeClr val="tx1"/>
                </a:solidFill>
                <a:effectLst/>
                <a:latin typeface="+mn-lt"/>
              </a:rPr>
              <a:t>make the e2e system slower under high-concurrency load</a:t>
            </a:r>
            <a:r>
              <a:rPr lang="en-CH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959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AB151-121D-FF22-E73E-2F8435A8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2613F9F-4119-5500-F997-201CD76CE0EA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Reason for high-concurrency performance worsening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7F6126-6ED7-6B1B-CEF2-DC32F3B18570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How does it look like for 1 simultaneous request?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926A13-335A-27FA-63A0-F420AF5C5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23" y="1340594"/>
            <a:ext cx="5505527" cy="498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15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EDF9-7DAB-064E-A10D-8BE04049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D9209A-1EAE-446D-EE2D-591F56A82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17" y="1340594"/>
            <a:ext cx="5509633" cy="49856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463CD8-68B9-678D-9553-137EA7D28A39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Reason for high-concurrency performance worsening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AB46E-C1CC-59FF-0428-0C00B04C5F25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How does it look like for 1 simultaneous request?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26980-EBC7-ED7B-F450-A142C94E3C5F}"/>
              </a:ext>
            </a:extLst>
          </p:cNvPr>
          <p:cNvSpPr txBox="1"/>
          <p:nvPr/>
        </p:nvSpPr>
        <p:spPr>
          <a:xfrm>
            <a:off x="7129413" y="5004836"/>
            <a:ext cx="1496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=&gt; Looks good.</a:t>
            </a:r>
          </a:p>
        </p:txBody>
      </p:sp>
    </p:spTree>
    <p:extLst>
      <p:ext uri="{BB962C8B-B14F-4D97-AF65-F5344CB8AC3E}">
        <p14:creationId xmlns:p14="http://schemas.microsoft.com/office/powerpoint/2010/main" val="4082114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EDF9-7DAB-064E-A10D-8BE04049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463CD8-68B9-678D-9553-137EA7D28A39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Reason for high-concurrency performance worsening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AB46E-C1CC-59FF-0428-0C00B04C5F25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How does it look like for 64 simultaneous request?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32D704-54E6-7C9C-1FDA-D72684A78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28" y="1343077"/>
            <a:ext cx="5399204" cy="488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2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2A1D-90A9-086A-7C26-A929E9F3F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81D240-0679-CCB5-C807-AF6717B165C0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Reason for high-concurrency performance worsening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E00AF-5143-5C1E-70AE-931A8E5F1E47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How does it look like for 64 simultaneous request?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0A6372-192A-499E-0DA6-16AE8A359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28" y="1343077"/>
            <a:ext cx="5373645" cy="4881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1B25DC-F4BA-4EB0-482B-3F9F09BD8294}"/>
              </a:ext>
            </a:extLst>
          </p:cNvPr>
          <p:cNvSpPr txBox="1"/>
          <p:nvPr/>
        </p:nvSpPr>
        <p:spPr>
          <a:xfrm>
            <a:off x="7463421" y="5093849"/>
            <a:ext cx="441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=&gt; Bad. Why is the cluster with shape M≈2000, N=17408, K=5120 taking almost double the time?</a:t>
            </a:r>
          </a:p>
        </p:txBody>
      </p:sp>
    </p:spTree>
    <p:extLst>
      <p:ext uri="{BB962C8B-B14F-4D97-AF65-F5344CB8AC3E}">
        <p14:creationId xmlns:p14="http://schemas.microsoft.com/office/powerpoint/2010/main" val="277267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F471-EA49-D1A6-A481-3B38DF7AC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13C0E1-3BE8-7A97-B59A-3F71B6BE77A3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Reason for high-concurrency performance worsening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58307-FC37-F654-4140-FF23469C52C2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Could it be related to DRAM access?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5C776E-4494-FB21-2A8C-2EE73BD4C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58" y="2259702"/>
            <a:ext cx="7772400" cy="1371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D63374-34F2-3E6E-9DCA-38E781923F35}"/>
              </a:ext>
            </a:extLst>
          </p:cNvPr>
          <p:cNvSpPr txBox="1"/>
          <p:nvPr/>
        </p:nvSpPr>
        <p:spPr>
          <a:xfrm>
            <a:off x="1269277" y="5003076"/>
            <a:ext cx="6691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=&gt; Yes. But why is more data pulled from DRAM under real serving than in isolation?</a:t>
            </a:r>
            <a:endParaRPr lang="en-CH" sz="1400" dirty="0"/>
          </a:p>
        </p:txBody>
      </p:sp>
    </p:spTree>
    <p:extLst>
      <p:ext uri="{BB962C8B-B14F-4D97-AF65-F5344CB8AC3E}">
        <p14:creationId xmlns:p14="http://schemas.microsoft.com/office/powerpoint/2010/main" val="2599027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F471-EA49-D1A6-A481-3B38DF7AC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13C0E1-3BE8-7A97-B59A-3F71B6BE77A3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Reason for high-concurrency performance worsening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58307-FC37-F654-4140-FF23469C52C2}"/>
              </a:ext>
            </a:extLst>
          </p:cNvPr>
          <p:cNvSpPr txBox="1"/>
          <p:nvPr/>
        </p:nvSpPr>
        <p:spPr>
          <a:xfrm>
            <a:off x="437321" y="755038"/>
            <a:ext cx="7121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The autotuning script get’s the matrices from L2 cache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63374-34F2-3E6E-9DCA-38E781923F35}"/>
              </a:ext>
            </a:extLst>
          </p:cNvPr>
          <p:cNvSpPr txBox="1"/>
          <p:nvPr/>
        </p:nvSpPr>
        <p:spPr>
          <a:xfrm>
            <a:off x="787039" y="2147680"/>
            <a:ext cx="10617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A, As = make_A(M, K)</a:t>
            </a:r>
          </a:p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B, Bs = make_B(N, K)          # allocated ONCE</a:t>
            </a:r>
          </a:p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for config in search_space:</a:t>
            </a:r>
          </a:p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    t = benchmark_config(A, B, As, Bs, config)   # every launch reuses the SAME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B9288-F6E0-9942-509E-00A8212E072F}"/>
              </a:ext>
            </a:extLst>
          </p:cNvPr>
          <p:cNvSpPr txBox="1"/>
          <p:nvPr/>
        </p:nvSpPr>
        <p:spPr>
          <a:xfrm>
            <a:off x="787039" y="4711764"/>
            <a:ext cx="6214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BUT: During real inferencing, there are many other things which go through the cache before the same layer gets called again using the same weight matrix B.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4B5603-8D4E-CD76-D8E2-855A41E46BB8}"/>
              </a:ext>
            </a:extLst>
          </p:cNvPr>
          <p:cNvSpPr txBox="1"/>
          <p:nvPr/>
        </p:nvSpPr>
        <p:spPr>
          <a:xfrm>
            <a:off x="7305085" y="4819485"/>
            <a:ext cx="3441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400" dirty="0"/>
              <a:t>=&gt; B will have been evicted from L2 cache.</a:t>
            </a:r>
          </a:p>
        </p:txBody>
      </p:sp>
    </p:spTree>
    <p:extLst>
      <p:ext uri="{BB962C8B-B14F-4D97-AF65-F5344CB8AC3E}">
        <p14:creationId xmlns:p14="http://schemas.microsoft.com/office/powerpoint/2010/main" val="4260618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9DD36-3500-7A77-8AB4-F5AC9F81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720B054-563D-0168-2DF9-8F815FC8F4C3}"/>
              </a:ext>
            </a:extLst>
          </p:cNvPr>
          <p:cNvSpPr txBox="1"/>
          <p:nvPr/>
        </p:nvSpPr>
        <p:spPr>
          <a:xfrm>
            <a:off x="1334589" y="3013501"/>
            <a:ext cx="95228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spcBef>
                <a:spcPts val="2550"/>
              </a:spcBef>
              <a:spcAft>
                <a:spcPts val="2550"/>
              </a:spcAft>
              <a:buNone/>
            </a:pPr>
            <a:r>
              <a:rPr lang="en-GB" sz="2400" i="0" dirty="0"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lang="en-GB" sz="2400" i="0" dirty="0" err="1">
                <a:solidFill>
                  <a:schemeClr val="tx1"/>
                </a:solidFill>
                <a:effectLst/>
                <a:latin typeface="+mn-lt"/>
              </a:rPr>
              <a:t>autotuner</a:t>
            </a:r>
            <a:r>
              <a:rPr lang="en-GB" sz="2400" i="0" dirty="0">
                <a:solidFill>
                  <a:schemeClr val="tx1"/>
                </a:solidFill>
                <a:effectLst/>
                <a:latin typeface="+mn-lt"/>
              </a:rPr>
              <a:t> measures a GEMM whose operands are cached.</a:t>
            </a:r>
            <a:br>
              <a:rPr lang="en-GB" sz="240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GB" sz="2400" i="0" dirty="0">
                <a:solidFill>
                  <a:schemeClr val="tx1"/>
                </a:solidFill>
                <a:effectLst/>
                <a:latin typeface="+mn-lt"/>
              </a:rPr>
              <a:t>Real serving never lets the operands stay in cache.</a:t>
            </a:r>
            <a:endParaRPr lang="en-CH" sz="2400" dirty="0"/>
          </a:p>
        </p:txBody>
      </p:sp>
    </p:spTree>
    <p:extLst>
      <p:ext uri="{BB962C8B-B14F-4D97-AF65-F5344CB8AC3E}">
        <p14:creationId xmlns:p14="http://schemas.microsoft.com/office/powerpoint/2010/main" val="2687648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F777C-764E-C119-8107-721D7D364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1C69A5-B241-BF9F-4F67-287091BC9710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Narrowing down the effect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5C47C-5ABB-0767-56C0-F9793FFB2801}"/>
              </a:ext>
            </a:extLst>
          </p:cNvPr>
          <p:cNvSpPr txBox="1"/>
          <p:nvPr/>
        </p:nvSpPr>
        <p:spPr>
          <a:xfrm>
            <a:off x="437321" y="755038"/>
            <a:ext cx="81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Which param gets the most bad influence from the wrong cache assumption?</a:t>
            </a:r>
          </a:p>
        </p:txBody>
      </p:sp>
      <p:pic>
        <p:nvPicPr>
          <p:cNvPr id="5" name="Picture 4" descr="../../_images/grouped_vs_row_major_ordering.png">
            <a:extLst>
              <a:ext uri="{FF2B5EF4-FFF2-40B4-BE49-F238E27FC236}">
                <a16:creationId xmlns:a16="http://schemas.microsoft.com/office/drawing/2014/main" id="{FAF92CB5-BEDE-C053-5C39-2F761E4E5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735" y="1617406"/>
            <a:ext cx="5710028" cy="40640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8D51E0-C8D9-9A80-860E-A69687F0CCF7}"/>
              </a:ext>
            </a:extLst>
          </p:cNvPr>
          <p:cNvSpPr txBox="1"/>
          <p:nvPr/>
        </p:nvSpPr>
        <p:spPr>
          <a:xfrm>
            <a:off x="671237" y="1617406"/>
            <a:ext cx="31854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"2048": {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  "BLOCK_SIZE_M": 128,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  "BLOCK_SIZE_N": 128,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  "BLOCK_SIZE_K": 128,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H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"GROUP_SIZE_M": 1,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  "num_warps": 8,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  "num_stages": 3</a:t>
            </a:r>
          </a:p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518A35-00BB-DB6F-7EAF-3A8EAE97993F}"/>
              </a:ext>
            </a:extLst>
          </p:cNvPr>
          <p:cNvSpPr txBox="1"/>
          <p:nvPr/>
        </p:nvSpPr>
        <p:spPr>
          <a:xfrm>
            <a:off x="511733" y="4829989"/>
            <a:ext cx="5091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“</a:t>
            </a:r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BLOCK_SIZE_M</a:t>
            </a:r>
            <a:r>
              <a:rPr lang="en-CH" dirty="0"/>
              <a:t> (…) affects the L2 cache hit rate”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B0139-6EF2-7FF1-71DA-6EF816A2C267}"/>
              </a:ext>
            </a:extLst>
          </p:cNvPr>
          <p:cNvSpPr txBox="1"/>
          <p:nvPr/>
        </p:nvSpPr>
        <p:spPr>
          <a:xfrm>
            <a:off x="2169343" y="5240594"/>
            <a:ext cx="3359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6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en-CH" sz="16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Triton Matrix Multiplication Tutorial</a:t>
            </a:r>
            <a:endParaRPr lang="en-CH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20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0AD2-56AC-C2D9-73F3-ECDAF714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255298-0C51-AD81-266F-5725066C6954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Narrowing down the effect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C67C2D-FE79-7E00-ACAA-68ED27925301}"/>
              </a:ext>
            </a:extLst>
          </p:cNvPr>
          <p:cNvSpPr txBox="1"/>
          <p:nvPr/>
        </p:nvSpPr>
        <p:spPr>
          <a:xfrm>
            <a:off x="437321" y="755038"/>
            <a:ext cx="81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Does changing </a:t>
            </a:r>
            <a:r>
              <a:rPr lang="en-GB" dirty="0"/>
              <a:t>GROUP_SIZE_M from 1 to 16 fix it?</a:t>
            </a:r>
            <a:endParaRPr lang="en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A4C6C-7309-2633-912F-E987D25E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24" y="1229989"/>
            <a:ext cx="4598356" cy="530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00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C93A4-04ED-CEAB-9293-67859CE9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190A8F-2475-CF6C-61F1-A942B9686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17" y="1229989"/>
            <a:ext cx="4574559" cy="53008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900C24-C6D5-C59A-3426-2AC9DFE49B24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Narrowing down the effect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08CF3-91CC-3B39-3A0A-676A8615EE90}"/>
              </a:ext>
            </a:extLst>
          </p:cNvPr>
          <p:cNvSpPr txBox="1"/>
          <p:nvPr/>
        </p:nvSpPr>
        <p:spPr>
          <a:xfrm>
            <a:off x="437321" y="755038"/>
            <a:ext cx="81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Does changing </a:t>
            </a:r>
            <a:r>
              <a:rPr lang="en-GB" dirty="0"/>
              <a:t>GROUP_SIZE_M from 1 to 16 fix it?</a:t>
            </a:r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98BBF-6C5F-2383-2729-CCC19C7CF1EE}"/>
              </a:ext>
            </a:extLst>
          </p:cNvPr>
          <p:cNvSpPr txBox="1"/>
          <p:nvPr/>
        </p:nvSpPr>
        <p:spPr>
          <a:xfrm>
            <a:off x="6254147" y="5681459"/>
            <a:ext cx="834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=&gt; Yes!</a:t>
            </a:r>
          </a:p>
        </p:txBody>
      </p:sp>
    </p:spTree>
    <p:extLst>
      <p:ext uri="{BB962C8B-B14F-4D97-AF65-F5344CB8AC3E}">
        <p14:creationId xmlns:p14="http://schemas.microsoft.com/office/powerpoint/2010/main" val="2596175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1892-E6E3-211F-495A-8A3C1CB4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D2E67C-FFA9-50E7-F7A4-18C5300BFE03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Fixing the autotune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6505E-31A3-40AD-3771-A4999B12BD95}"/>
              </a:ext>
            </a:extLst>
          </p:cNvPr>
          <p:cNvSpPr txBox="1"/>
          <p:nvPr/>
        </p:nvSpPr>
        <p:spPr>
          <a:xfrm>
            <a:off x="437321" y="755038"/>
            <a:ext cx="81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Solution: </a:t>
            </a:r>
            <a:r>
              <a:rPr lang="de-CH" dirty="0" err="1"/>
              <a:t>Evict</a:t>
            </a:r>
            <a:r>
              <a:rPr lang="de-CH" dirty="0"/>
              <a:t> </a:t>
            </a:r>
            <a:r>
              <a:rPr lang="de-CH" dirty="0" err="1"/>
              <a:t>cache</a:t>
            </a:r>
            <a:r>
              <a:rPr lang="de-CH" dirty="0"/>
              <a:t> </a:t>
            </a:r>
            <a:r>
              <a:rPr lang="de-CH" dirty="0" err="1"/>
              <a:t>before</a:t>
            </a:r>
            <a:r>
              <a:rPr lang="de-CH" dirty="0"/>
              <a:t> </a:t>
            </a:r>
            <a:r>
              <a:rPr lang="de-CH" dirty="0" err="1"/>
              <a:t>every</a:t>
            </a:r>
            <a:r>
              <a:rPr lang="de-CH" dirty="0"/>
              <a:t> </a:t>
            </a:r>
            <a:r>
              <a:rPr lang="de-CH" dirty="0" err="1"/>
              <a:t>run</a:t>
            </a:r>
            <a:endParaRPr lang="en-CH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659B1-38E7-3828-9CAC-A4150E7246D2}"/>
              </a:ext>
            </a:extLst>
          </p:cNvPr>
          <p:cNvSpPr txBox="1"/>
          <p:nvPr/>
        </p:nvSpPr>
        <p:spPr>
          <a:xfrm>
            <a:off x="1125143" y="2343410"/>
            <a:ext cx="79703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def benchmark_config(...):</a:t>
            </a:r>
          </a:p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    for _ in range(num_iters):</a:t>
            </a:r>
          </a:p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flush_buf.zero_()            # the fix: evict L2 before every launch</a:t>
            </a:r>
          </a:p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start_event.record()</a:t>
            </a:r>
          </a:p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run()</a:t>
            </a:r>
          </a:p>
          <a:p>
            <a:r>
              <a:rPr lang="en-CH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end_event.record()</a:t>
            </a:r>
          </a:p>
        </p:txBody>
      </p:sp>
    </p:spTree>
    <p:extLst>
      <p:ext uri="{BB962C8B-B14F-4D97-AF65-F5344CB8AC3E}">
        <p14:creationId xmlns:p14="http://schemas.microsoft.com/office/powerpoint/2010/main" val="1163690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55BD4-864A-5EDC-BB80-3E4C18C72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3D2F7-6484-8772-8AD7-E7FFB7C17E39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Fixing the autotune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738C0-24E8-EC33-FCDF-B9EF32598213}"/>
              </a:ext>
            </a:extLst>
          </p:cNvPr>
          <p:cNvSpPr txBox="1"/>
          <p:nvPr/>
        </p:nvSpPr>
        <p:spPr>
          <a:xfrm>
            <a:off x="437321" y="755038"/>
            <a:ext cx="81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 err="1"/>
              <a:t>Before</a:t>
            </a:r>
            <a:r>
              <a:rPr lang="de-CH" dirty="0"/>
              <a:t> vs. after fix (</a:t>
            </a:r>
            <a:r>
              <a:rPr lang="de-CH" dirty="0" err="1"/>
              <a:t>both</a:t>
            </a:r>
            <a:r>
              <a:rPr lang="de-CH" dirty="0"/>
              <a:t> </a:t>
            </a:r>
            <a:r>
              <a:rPr lang="de-CH" dirty="0" err="1"/>
              <a:t>measured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L2 </a:t>
            </a:r>
            <a:r>
              <a:rPr lang="de-CH" dirty="0" err="1"/>
              <a:t>flushed</a:t>
            </a:r>
            <a:r>
              <a:rPr lang="de-CH" dirty="0"/>
              <a:t> </a:t>
            </a:r>
            <a:r>
              <a:rPr lang="de-CH" dirty="0" err="1"/>
              <a:t>before</a:t>
            </a:r>
            <a:r>
              <a:rPr lang="de-CH" dirty="0"/>
              <a:t> </a:t>
            </a:r>
            <a:r>
              <a:rPr lang="de-CH" dirty="0" err="1"/>
              <a:t>every</a:t>
            </a:r>
            <a:r>
              <a:rPr lang="de-CH" dirty="0"/>
              <a:t> </a:t>
            </a:r>
            <a:r>
              <a:rPr lang="de-CH" dirty="0" err="1"/>
              <a:t>iteration</a:t>
            </a:r>
            <a:r>
              <a:rPr lang="de-CH" dirty="0"/>
              <a:t>)</a:t>
            </a:r>
            <a:endParaRPr lang="en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0F0C59-43D6-B14E-0AC0-49AD3ACE1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10" y="2204319"/>
            <a:ext cx="4724197" cy="294907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042459-796D-22D7-CA3B-6919E444CB8E}"/>
              </a:ext>
            </a:extLst>
          </p:cNvPr>
          <p:cNvCxnSpPr>
            <a:cxnSpLocks/>
          </p:cNvCxnSpPr>
          <p:nvPr/>
        </p:nvCxnSpPr>
        <p:spPr>
          <a:xfrm>
            <a:off x="5709738" y="3532097"/>
            <a:ext cx="77506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4F0B76B-24CD-675D-1C13-3F2D8C975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300" y="2204320"/>
            <a:ext cx="4963500" cy="297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93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7771-E86F-38A4-64D1-74B263E0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B5D5D7-090D-77F1-48EE-CEED0C371771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Fixing the autotune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4E7BF-7E70-083D-C2F0-B1E3C09EFA14}"/>
              </a:ext>
            </a:extLst>
          </p:cNvPr>
          <p:cNvSpPr txBox="1"/>
          <p:nvPr/>
        </p:nvSpPr>
        <p:spPr>
          <a:xfrm>
            <a:off x="437321" y="755038"/>
            <a:ext cx="81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Real </a:t>
            </a:r>
            <a:r>
              <a:rPr lang="de-CH" dirty="0" err="1"/>
              <a:t>serving</a:t>
            </a:r>
            <a:r>
              <a:rPr lang="de-CH" dirty="0"/>
              <a:t> </a:t>
            </a:r>
            <a:r>
              <a:rPr lang="de-CH" dirty="0" err="1"/>
              <a:t>performance</a:t>
            </a:r>
            <a:r>
              <a:rPr lang="de-CH" dirty="0"/>
              <a:t> </a:t>
            </a:r>
            <a:r>
              <a:rPr lang="de-CH" dirty="0" err="1"/>
              <a:t>improvement</a:t>
            </a:r>
            <a:endParaRPr lang="en-CH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2307C0-F116-97D8-B3A8-F510CEBD0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72" y="1451344"/>
            <a:ext cx="8132143" cy="463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33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55BD4-864A-5EDC-BB80-3E4C18C72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3D2F7-6484-8772-8AD7-E7FFB7C17E39}"/>
              </a:ext>
            </a:extLst>
          </p:cNvPr>
          <p:cNvSpPr txBox="1"/>
          <p:nvPr/>
        </p:nvSpPr>
        <p:spPr>
          <a:xfrm>
            <a:off x="437322" y="447261"/>
            <a:ext cx="4323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Fixing the autotune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738C0-24E8-EC33-FCDF-B9EF32598213}"/>
              </a:ext>
            </a:extLst>
          </p:cNvPr>
          <p:cNvSpPr txBox="1"/>
          <p:nvPr/>
        </p:nvSpPr>
        <p:spPr>
          <a:xfrm>
            <a:off x="437321" y="755038"/>
            <a:ext cx="81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Real </a:t>
            </a:r>
            <a:r>
              <a:rPr lang="de-CH" dirty="0" err="1"/>
              <a:t>serving</a:t>
            </a:r>
            <a:r>
              <a:rPr lang="de-CH" dirty="0"/>
              <a:t> </a:t>
            </a:r>
            <a:r>
              <a:rPr lang="de-CH" dirty="0" err="1"/>
              <a:t>performance</a:t>
            </a:r>
            <a:r>
              <a:rPr lang="de-CH" dirty="0"/>
              <a:t> </a:t>
            </a:r>
            <a:r>
              <a:rPr lang="de-CH" dirty="0" err="1"/>
              <a:t>improvement</a:t>
            </a:r>
            <a:endParaRPr lang="en-C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C664A0-CBD0-01DA-0132-789A4C788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72" y="1451344"/>
            <a:ext cx="8132143" cy="46516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C376DA-27AE-6CCA-5ADE-1BC660FBCB43}"/>
              </a:ext>
            </a:extLst>
          </p:cNvPr>
          <p:cNvSpPr txBox="1"/>
          <p:nvPr/>
        </p:nvSpPr>
        <p:spPr>
          <a:xfrm>
            <a:off x="9641585" y="5338558"/>
            <a:ext cx="1632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400" dirty="0"/>
              <a:t>=&gt; Better across all concurrencies!</a:t>
            </a:r>
          </a:p>
        </p:txBody>
      </p:sp>
    </p:spTree>
    <p:extLst>
      <p:ext uri="{BB962C8B-B14F-4D97-AF65-F5344CB8AC3E}">
        <p14:creationId xmlns:p14="http://schemas.microsoft.com/office/powerpoint/2010/main" val="464633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1050</Words>
  <Application>Microsoft Macintosh PowerPoint</Application>
  <PresentationFormat>Widescreen</PresentationFormat>
  <Paragraphs>130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Schöchli</dc:creator>
  <cp:lastModifiedBy>Leo Schöchli</cp:lastModifiedBy>
  <cp:revision>18</cp:revision>
  <dcterms:created xsi:type="dcterms:W3CDTF">2026-09-22T09:04:48Z</dcterms:created>
  <dcterms:modified xsi:type="dcterms:W3CDTF">2026-09-23T13:42:41Z</dcterms:modified>
</cp:coreProperties>
</file>